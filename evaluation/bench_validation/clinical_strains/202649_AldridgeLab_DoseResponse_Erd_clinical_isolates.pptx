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719"/>
  </p:normalViewPr>
  <p:slideViewPr>
    <p:cSldViewPr snapToGrid="0">
      <p:cViewPr varScale="1">
        <p:scale>
          <a:sx n="138" d="100"/>
          <a:sy n="138" d="100"/>
        </p:scale>
        <p:origin x="17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A92A-E1AB-7F7C-2DB1-A25389C98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D24FA-B6AD-CC78-0010-84C810F43F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BC1B3-2B88-161E-8F0B-DFEA0BF72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AFE6-634A-6C4F-BA3F-B127AFACE271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2BB32-CC44-D93B-87FC-29D50319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B5A83-2AD8-7E37-40D4-3C491AFF8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3363-7128-D843-B6F4-C98FAC68B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2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10CBC-8E93-96EE-7A0F-21115DA48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11F43-2178-AC1C-C6FB-EDEEC5207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4D928-2B1F-53C4-4CAC-4C225A4DA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AFE6-634A-6C4F-BA3F-B127AFACE271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B5E2F-D978-E6C1-4BDD-E7BA3CD90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A00AD-739C-B155-3DAA-E96200F92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3363-7128-D843-B6F4-C98FAC68B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86006-6F3A-4875-E527-41CB43F00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9BBBB-1978-EC0E-AF9F-95CA69BF7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6A143-F382-F3B4-48D1-740DDB97A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AFE6-634A-6C4F-BA3F-B127AFACE271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777E-05F9-3A0B-8ED9-01ABA0521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ED310-0DE7-58B2-B057-756BB4B27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3363-7128-D843-B6F4-C98FAC68B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837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36E53-831F-CD10-25C5-582539AE4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EE167-CF3C-5BB1-0E5F-84D854B6E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86397-AC93-6BD3-66FC-6ED86A243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FC2E5-7EB5-E408-8D35-9EBEB046A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AFE6-634A-6C4F-BA3F-B127AFACE271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29CC7-3690-24E0-8C55-E886A90C0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AB7D0-D687-22B1-2071-7DFEF6FE0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3363-7128-D843-B6F4-C98FAC68B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74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4168-B4E3-3036-4C8D-40B42E4FF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22280-AC37-D666-B69D-4BE1A12F6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06250-EE2C-841B-E86B-F98F0F015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E72295-DA86-62AA-B069-C539B0CB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A7124B-1585-35A5-76F0-AF7872B08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E3033D-8EF1-CC38-9DFE-8874A9F9C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AFE6-634A-6C4F-BA3F-B127AFACE271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21CBF2-824D-46BE-B5E2-711365A1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BDEE7B-596B-010A-754B-E15BFA863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3363-7128-D843-B6F4-C98FAC68B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93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23724-6B00-0692-2AF2-D8280D453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2A94F-6E6E-F3CF-50FF-35D55716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AFE6-634A-6C4F-BA3F-B127AFACE271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921A5-F8B2-E611-44E1-41E9AE0E2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F63D1-E140-B664-F9CD-AA3C7661F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3363-7128-D843-B6F4-C98FAC68B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38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3F3330-69D1-BD3D-9D2B-604BB9EE7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AFE6-634A-6C4F-BA3F-B127AFACE271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50AD85-96AA-D36C-DD91-F4E26F193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5CE3B-6E99-CCEE-F9A4-898C0FEF1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3363-7128-D843-B6F4-C98FAC68B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48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5107-5071-855F-C243-69382D3F0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B4F22-EA99-59E8-D909-5F4D1CAB1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1B56B-5689-3B3C-6F96-5DCAB1809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49A8D-B2AC-174F-4814-2DDFEF52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AFE6-634A-6C4F-BA3F-B127AFACE271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4BC96-699E-3308-FA17-C512D86C5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1E997-832B-661D-65B3-C88B97F37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3363-7128-D843-B6F4-C98FAC68B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67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223C-A8F6-764C-C3E0-B2F35146F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089D40-E823-3DAA-03D7-B086C024B3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7A27C-4562-EAC9-B447-D38258741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C3E6D-2CC8-1521-81F5-F935230E5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AFE6-634A-6C4F-BA3F-B127AFACE271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1D166-F6CB-2F7D-5A06-D797DEEA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5B826-6094-3BCE-B779-0C85C5E3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3363-7128-D843-B6F4-C98FAC68B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42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083F-B27D-CCF5-A5EB-74A459D2D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AC371-77DC-D012-9D87-1EF4D9148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DB8F2-E36A-8014-C3AC-5AEAE81E9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AFE6-634A-6C4F-BA3F-B127AFACE271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008BF-8A2F-4717-96CD-37139530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26A83-5F39-978C-4C8D-CFAC72F5F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3363-7128-D843-B6F4-C98FAC68B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41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FE91F9-5F4D-3411-35AE-5DDEAD458E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70641-BD4C-0266-FFB2-64FE8B1BE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67328-09D8-2A22-9D9A-408FE74A9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AFE6-634A-6C4F-BA3F-B127AFACE271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39402-DF7B-CCBF-EB87-DD4E877C9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A7767-8ECE-75D0-4444-CE1A1A95E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03363-7128-D843-B6F4-C98FAC68B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333525-0EE4-DF64-8E5D-798079E5C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64372-8D35-A416-B3B0-FB831469D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8F6E8-15B9-8AF8-C42B-870FC1B9A1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05AFE6-634A-6C4F-BA3F-B127AFACE271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D09D9-A38C-C341-89A8-AF2812529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4A916-7EF4-62DD-8715-E48D4A627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03363-7128-D843-B6F4-C98FAC68B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44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CB1F6-3353-4D14-3089-A30C62A74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4771" y="3221644"/>
            <a:ext cx="8270240" cy="3220720"/>
          </a:xfrm>
        </p:spPr>
        <p:txBody>
          <a:bodyPr>
            <a:noAutofit/>
          </a:bodyPr>
          <a:lstStyle/>
          <a:p>
            <a:r>
              <a:rPr lang="en-US" sz="4400" b="1" dirty="0"/>
              <a:t>Dose Response Curves of 6 </a:t>
            </a:r>
            <a:r>
              <a:rPr lang="en-US" sz="4400" b="1" dirty="0" err="1"/>
              <a:t>Mtb</a:t>
            </a:r>
            <a:r>
              <a:rPr lang="en-US" sz="4400" b="1" dirty="0"/>
              <a:t> candidate antibiotics in Erdman Lux and 1 Clinical Isolate (Lineage 1.2) in </a:t>
            </a:r>
            <a:r>
              <a:rPr lang="en-US" sz="4000" b="1" dirty="0"/>
              <a:t>Standard</a:t>
            </a:r>
            <a:r>
              <a:rPr lang="en-US" sz="4400" b="1" dirty="0"/>
              <a:t>/Rich Growth Condition</a:t>
            </a:r>
            <a:br>
              <a:rPr lang="en-US" sz="4400" b="1" dirty="0"/>
            </a:br>
            <a:br>
              <a:rPr lang="en-US" sz="4400" b="1" dirty="0"/>
            </a:br>
            <a:r>
              <a:rPr lang="en-US" sz="2800" dirty="0"/>
              <a:t>Aldridge Lab</a:t>
            </a:r>
            <a:br>
              <a:rPr lang="en-US" sz="2800" dirty="0"/>
            </a:br>
            <a:r>
              <a:rPr lang="en-US" sz="2800" dirty="0"/>
              <a:t>4/9/26</a:t>
            </a:r>
            <a:br>
              <a:rPr lang="en-US" sz="1400" b="1" dirty="0"/>
            </a:br>
            <a:br>
              <a:rPr lang="en-US" sz="4400" b="1" dirty="0"/>
            </a:b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139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3EC104-9EC7-8866-730A-400EEFE61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6229" y="-14178"/>
            <a:ext cx="1927358" cy="467688"/>
          </a:xfrm>
        </p:spPr>
        <p:txBody>
          <a:bodyPr>
            <a:normAutofit/>
          </a:bodyPr>
          <a:lstStyle/>
          <a:p>
            <a:r>
              <a:rPr lang="en-US" sz="2400" b="1" dirty="0"/>
              <a:t>Compound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497CA9-9ADA-78B0-90DD-A6F99FE92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rot="16200000">
            <a:off x="-589831" y="1669900"/>
            <a:ext cx="2120153" cy="6779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b="1" dirty="0"/>
              <a:t>Erdman</a:t>
            </a:r>
            <a:r>
              <a:rPr lang="en-US" sz="2400" b="1" dirty="0"/>
              <a:t> Lux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6DF87-9E4D-03BF-EB97-C3B78A2E4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rot="16200000">
            <a:off x="-1375312" y="4574297"/>
            <a:ext cx="3453977" cy="4408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b="1" dirty="0" err="1"/>
              <a:t>vci</a:t>
            </a:r>
            <a:r>
              <a:rPr lang="en-US" sz="2200" b="1" dirty="0"/>
              <a:t> 185 (Lineage 1.2) </a:t>
            </a:r>
          </a:p>
        </p:txBody>
      </p:sp>
      <p:pic>
        <p:nvPicPr>
          <p:cNvPr id="8" name="Picture 7" descr="A graph with blue dots and red lines&#10;&#10;AI-generated content may be incorrect.">
            <a:extLst>
              <a:ext uri="{FF2B5EF4-FFF2-40B4-BE49-F238E27FC236}">
                <a16:creationId xmlns:a16="http://schemas.microsoft.com/office/drawing/2014/main" id="{23EC5BCF-58C2-BF14-FB18-793C0F36F1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008" t="11893"/>
          <a:stretch>
            <a:fillRect/>
          </a:stretch>
        </p:blipFill>
        <p:spPr>
          <a:xfrm>
            <a:off x="651858" y="548169"/>
            <a:ext cx="10581374" cy="3048000"/>
          </a:xfrm>
          <a:prstGeom prst="rect">
            <a:avLst/>
          </a:prstGeom>
        </p:spPr>
      </p:pic>
      <p:pic>
        <p:nvPicPr>
          <p:cNvPr id="10" name="Picture 9" descr="A graph with blue dots and red lines&#10;&#10;AI-generated content may be incorrect.">
            <a:extLst>
              <a:ext uri="{FF2B5EF4-FFF2-40B4-BE49-F238E27FC236}">
                <a16:creationId xmlns:a16="http://schemas.microsoft.com/office/drawing/2014/main" id="{F52E670F-DF0E-2907-5F9B-13C87D1179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46"/>
          <a:stretch>
            <a:fillRect/>
          </a:stretch>
        </p:blipFill>
        <p:spPr>
          <a:xfrm>
            <a:off x="651858" y="3467100"/>
            <a:ext cx="10581374" cy="317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730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3C73B-9C9B-E26C-2422-F437D01F9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4038F0-3B02-4632-82C9-E1445FF4E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3157" y="76439"/>
            <a:ext cx="1927358" cy="467688"/>
          </a:xfrm>
        </p:spPr>
        <p:txBody>
          <a:bodyPr>
            <a:normAutofit/>
          </a:bodyPr>
          <a:lstStyle/>
          <a:p>
            <a:r>
              <a:rPr lang="en-US" sz="2400" b="1" dirty="0"/>
              <a:t>Compound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DB6DA1-AE8C-6E60-BE5C-6F45900880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rot="16200000">
            <a:off x="-457240" y="1877862"/>
            <a:ext cx="2120153" cy="6779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b="1" dirty="0"/>
              <a:t>Erdman</a:t>
            </a:r>
            <a:r>
              <a:rPr lang="en-US" sz="2400" b="1" dirty="0"/>
              <a:t> Lux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127CEF-0353-838B-EC45-8668C1BB7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rot="16200000">
            <a:off x="-1242721" y="4910609"/>
            <a:ext cx="3453977" cy="4408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b="1" dirty="0" err="1"/>
              <a:t>vci</a:t>
            </a:r>
            <a:r>
              <a:rPr lang="en-US" sz="2200" b="1" dirty="0"/>
              <a:t> 185 (Lineage 1.2) </a:t>
            </a:r>
          </a:p>
        </p:txBody>
      </p:sp>
      <p:pic>
        <p:nvPicPr>
          <p:cNvPr id="2" name="Picture 1" descr="A graph of a function&#10;&#10;AI-generated content may be incorrect.">
            <a:extLst>
              <a:ext uri="{FF2B5EF4-FFF2-40B4-BE49-F238E27FC236}">
                <a16:creationId xmlns:a16="http://schemas.microsoft.com/office/drawing/2014/main" id="{A07515D7-8046-B090-9674-E99BB5F1CB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58"/>
          <a:stretch>
            <a:fillRect/>
          </a:stretch>
        </p:blipFill>
        <p:spPr>
          <a:xfrm>
            <a:off x="1051337" y="564033"/>
            <a:ext cx="10089325" cy="3010041"/>
          </a:xfrm>
          <a:prstGeom prst="rect">
            <a:avLst/>
          </a:prstGeom>
        </p:spPr>
      </p:pic>
      <p:pic>
        <p:nvPicPr>
          <p:cNvPr id="3" name="Picture 2" descr="A graph with a red line and blue dots&#10;&#10;AI-generated content may be incorrect.">
            <a:extLst>
              <a:ext uri="{FF2B5EF4-FFF2-40B4-BE49-F238E27FC236}">
                <a16:creationId xmlns:a16="http://schemas.microsoft.com/office/drawing/2014/main" id="{33AFD851-D64C-0FAF-43F5-3AA8411B4D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54" t="12210"/>
          <a:stretch>
            <a:fillRect/>
          </a:stretch>
        </p:blipFill>
        <p:spPr>
          <a:xfrm>
            <a:off x="941809" y="3748695"/>
            <a:ext cx="10198853" cy="293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33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9352-5BD4-2E31-E16E-180CD7E15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D1E157-FA6F-953F-279E-F40167A7B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321" y="0"/>
            <a:ext cx="1927358" cy="467688"/>
          </a:xfrm>
        </p:spPr>
        <p:txBody>
          <a:bodyPr>
            <a:normAutofit/>
          </a:bodyPr>
          <a:lstStyle/>
          <a:p>
            <a:r>
              <a:rPr lang="en-US" sz="2400" b="1" dirty="0"/>
              <a:t>Compound 3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87B6DE-4D36-554C-B14E-F2C293D7D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rot="16200000">
            <a:off x="-652775" y="1502241"/>
            <a:ext cx="2120153" cy="6779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b="1" dirty="0"/>
              <a:t>Erdman</a:t>
            </a:r>
            <a:r>
              <a:rPr lang="en-US" sz="2400" b="1" dirty="0"/>
              <a:t> Lux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3E2DF6-C464-3383-0E95-105244BE5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rot="16200000">
            <a:off x="-1438256" y="4868589"/>
            <a:ext cx="3453977" cy="4408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b="1" dirty="0" err="1"/>
              <a:t>vci</a:t>
            </a:r>
            <a:r>
              <a:rPr lang="en-US" sz="2200" b="1" dirty="0"/>
              <a:t> 185 (Lineage 1.2) </a:t>
            </a:r>
          </a:p>
        </p:txBody>
      </p:sp>
      <p:pic>
        <p:nvPicPr>
          <p:cNvPr id="7" name="Picture 6" descr="A graph with a red line and blue dots&#10;&#10;AI-generated content may be incorrect.">
            <a:extLst>
              <a:ext uri="{FF2B5EF4-FFF2-40B4-BE49-F238E27FC236}">
                <a16:creationId xmlns:a16="http://schemas.microsoft.com/office/drawing/2014/main" id="{564F1677-1A7A-97B8-697D-418E732AFA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988"/>
          <a:stretch>
            <a:fillRect/>
          </a:stretch>
        </p:blipFill>
        <p:spPr>
          <a:xfrm>
            <a:off x="737974" y="467688"/>
            <a:ext cx="10243563" cy="3011055"/>
          </a:xfrm>
          <a:prstGeom prst="rect">
            <a:avLst/>
          </a:prstGeom>
        </p:spPr>
      </p:pic>
      <p:pic>
        <p:nvPicPr>
          <p:cNvPr id="9" name="Picture 8" descr="A graph with blue dots and red lines&#10;&#10;AI-generated content may be incorrect.">
            <a:extLst>
              <a:ext uri="{FF2B5EF4-FFF2-40B4-BE49-F238E27FC236}">
                <a16:creationId xmlns:a16="http://schemas.microsoft.com/office/drawing/2014/main" id="{24E90E5A-42D1-B07B-D5A3-B56E9F5117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387"/>
          <a:stretch>
            <a:fillRect/>
          </a:stretch>
        </p:blipFill>
        <p:spPr>
          <a:xfrm>
            <a:off x="737974" y="3792192"/>
            <a:ext cx="10243563" cy="299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0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D9126-2D7D-B2AD-4D1A-05628A12A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77DB0F-0A36-D13B-5692-9BEBB7001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321" y="35292"/>
            <a:ext cx="1927358" cy="467688"/>
          </a:xfrm>
        </p:spPr>
        <p:txBody>
          <a:bodyPr>
            <a:normAutofit/>
          </a:bodyPr>
          <a:lstStyle/>
          <a:p>
            <a:r>
              <a:rPr lang="en-US" sz="2400" b="1" dirty="0"/>
              <a:t>Compound 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D1B7A5-C8B8-422A-1C80-32DC5C424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rot="16200000">
            <a:off x="-574959" y="1733197"/>
            <a:ext cx="2120153" cy="6779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b="1" dirty="0"/>
              <a:t>Erdman</a:t>
            </a:r>
            <a:r>
              <a:rPr lang="en-US" sz="2400" b="1" dirty="0"/>
              <a:t> Lux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D57742-ED17-F367-DE71-C6649FF78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rot="16200000">
            <a:off x="-1327986" y="4721324"/>
            <a:ext cx="3453977" cy="4408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b="1" dirty="0" err="1"/>
              <a:t>vci</a:t>
            </a:r>
            <a:r>
              <a:rPr lang="en-US" sz="2200" b="1" dirty="0"/>
              <a:t> 185 (Lineage 1.2) </a:t>
            </a:r>
          </a:p>
        </p:txBody>
      </p:sp>
      <p:pic>
        <p:nvPicPr>
          <p:cNvPr id="2" name="Picture 1" descr="A graph with a red line and blue dots&#10;&#10;AI-generated content may be incorrect.">
            <a:extLst>
              <a:ext uri="{FF2B5EF4-FFF2-40B4-BE49-F238E27FC236}">
                <a16:creationId xmlns:a16="http://schemas.microsoft.com/office/drawing/2014/main" id="{CAE0B8FA-AE22-9ABF-BEAE-FE8E5111EC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92"/>
          <a:stretch>
            <a:fillRect/>
          </a:stretch>
        </p:blipFill>
        <p:spPr>
          <a:xfrm>
            <a:off x="917050" y="561732"/>
            <a:ext cx="9935675" cy="2923713"/>
          </a:xfrm>
          <a:prstGeom prst="rect">
            <a:avLst/>
          </a:prstGeom>
        </p:spPr>
      </p:pic>
      <p:pic>
        <p:nvPicPr>
          <p:cNvPr id="3" name="Picture 2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58DD82A7-2C8E-1504-3BBC-D7E28BE21C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87"/>
          <a:stretch>
            <a:fillRect/>
          </a:stretch>
        </p:blipFill>
        <p:spPr>
          <a:xfrm>
            <a:off x="917051" y="3694546"/>
            <a:ext cx="9935674" cy="289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06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2A0B0-93FC-2A21-8E87-6505004AA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7B1359-2B2C-4F07-D648-346ADCC18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321" y="0"/>
            <a:ext cx="1927358" cy="467688"/>
          </a:xfrm>
        </p:spPr>
        <p:txBody>
          <a:bodyPr>
            <a:normAutofit/>
          </a:bodyPr>
          <a:lstStyle/>
          <a:p>
            <a:r>
              <a:rPr lang="en-US" sz="2400" b="1" dirty="0"/>
              <a:t>Compound 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A6C098-1A04-2843-B621-8EA6072241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rot="16200000">
            <a:off x="-526723" y="1716412"/>
            <a:ext cx="2120153" cy="6779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b="1" dirty="0"/>
              <a:t>Erdman</a:t>
            </a:r>
            <a:r>
              <a:rPr lang="en-US" sz="2400" b="1" dirty="0"/>
              <a:t> Lux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88E855-288D-7ECA-C694-0A6B5997C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rot="16200000">
            <a:off x="-1277789" y="4693596"/>
            <a:ext cx="3453977" cy="4408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b="1" dirty="0" err="1"/>
              <a:t>vci</a:t>
            </a:r>
            <a:r>
              <a:rPr lang="en-US" sz="2200" b="1" dirty="0"/>
              <a:t> 185 (Lineage 1.2) </a:t>
            </a:r>
          </a:p>
        </p:txBody>
      </p:sp>
      <p:pic>
        <p:nvPicPr>
          <p:cNvPr id="2" name="Picture 1" descr="A graph with a red line&#10;&#10;AI-generated content may be incorrect.">
            <a:extLst>
              <a:ext uri="{FF2B5EF4-FFF2-40B4-BE49-F238E27FC236}">
                <a16:creationId xmlns:a16="http://schemas.microsoft.com/office/drawing/2014/main" id="{C594CFC7-DC29-F2BA-49A9-B44887273B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10"/>
          <a:stretch>
            <a:fillRect/>
          </a:stretch>
        </p:blipFill>
        <p:spPr>
          <a:xfrm>
            <a:off x="704017" y="564007"/>
            <a:ext cx="10036986" cy="2982757"/>
          </a:xfrm>
          <a:prstGeom prst="rect">
            <a:avLst/>
          </a:prstGeom>
        </p:spPr>
      </p:pic>
      <p:pic>
        <p:nvPicPr>
          <p:cNvPr id="3" name="Picture 2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14137D16-F1E3-6C89-E0B8-7D1F26EA87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166"/>
          <a:stretch>
            <a:fillRect/>
          </a:stretch>
        </p:blipFill>
        <p:spPr>
          <a:xfrm>
            <a:off x="704018" y="3643083"/>
            <a:ext cx="10036985" cy="291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40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CC22A-7838-4C3C-5ED1-BF35947CF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F725B5-D641-20DA-A831-5709E9109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0684" y="0"/>
            <a:ext cx="1927358" cy="467688"/>
          </a:xfrm>
        </p:spPr>
        <p:txBody>
          <a:bodyPr>
            <a:normAutofit/>
          </a:bodyPr>
          <a:lstStyle/>
          <a:p>
            <a:r>
              <a:rPr lang="en-US" sz="2400" b="1" dirty="0"/>
              <a:t>Compound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EE1102-B64A-A578-8C93-6E94530E1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rot="16200000">
            <a:off x="-462051" y="1677779"/>
            <a:ext cx="2120153" cy="6779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b="1" dirty="0"/>
              <a:t>Erdman</a:t>
            </a:r>
            <a:r>
              <a:rPr lang="en-US" sz="2400" b="1" dirty="0"/>
              <a:t> Lux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02E537-591A-64AA-11F3-2F9678D61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rot="16200000">
            <a:off x="-1177482" y="4721325"/>
            <a:ext cx="3453977" cy="4408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b="1" dirty="0" err="1"/>
              <a:t>vci</a:t>
            </a:r>
            <a:r>
              <a:rPr lang="en-US" sz="2200" b="1" dirty="0"/>
              <a:t> 185 (Lineage 1.2) </a:t>
            </a:r>
          </a:p>
        </p:txBody>
      </p:sp>
      <p:pic>
        <p:nvPicPr>
          <p:cNvPr id="2" name="Picture 1" descr="A graph with blue dots and red dots&#10;&#10;AI-generated content may be incorrect.">
            <a:extLst>
              <a:ext uri="{FF2B5EF4-FFF2-40B4-BE49-F238E27FC236}">
                <a16:creationId xmlns:a16="http://schemas.microsoft.com/office/drawing/2014/main" id="{2FFD16DB-24ED-C779-7C2B-BCDC3A1F67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09"/>
          <a:stretch>
            <a:fillRect/>
          </a:stretch>
        </p:blipFill>
        <p:spPr>
          <a:xfrm>
            <a:off x="936998" y="606890"/>
            <a:ext cx="10208387" cy="2969672"/>
          </a:xfrm>
          <a:prstGeom prst="rect">
            <a:avLst/>
          </a:prstGeom>
        </p:spPr>
      </p:pic>
      <p:pic>
        <p:nvPicPr>
          <p:cNvPr id="3" name="Picture 2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3B3ED6D3-7E7B-56D1-321B-E741F6E533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656"/>
          <a:stretch>
            <a:fillRect/>
          </a:stretch>
        </p:blipFill>
        <p:spPr>
          <a:xfrm>
            <a:off x="936998" y="3715764"/>
            <a:ext cx="10121832" cy="295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8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93</Words>
  <Application>Microsoft Macintosh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Dose Response Curves of 6 Mtb candidate antibiotics in Erdman Lux and 1 Clinical Isolate (Lineage 1.2) in Standard/Rich Growth Condition  Aldridge Lab 4/9/26  </vt:lpstr>
      <vt:lpstr>Compound 1</vt:lpstr>
      <vt:lpstr>Compound 2</vt:lpstr>
      <vt:lpstr>Compound 3</vt:lpstr>
      <vt:lpstr>Compound 4</vt:lpstr>
      <vt:lpstr>Compound 5</vt:lpstr>
      <vt:lpstr>Compound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Ninsin, Elorm</dc:creator>
  <cp:lastModifiedBy>Ninsin, Elorm</cp:lastModifiedBy>
  <cp:revision>2</cp:revision>
  <dcterms:created xsi:type="dcterms:W3CDTF">2026-04-09T13:14:03Z</dcterms:created>
  <dcterms:modified xsi:type="dcterms:W3CDTF">2026-04-09T14:07:49Z</dcterms:modified>
</cp:coreProperties>
</file>